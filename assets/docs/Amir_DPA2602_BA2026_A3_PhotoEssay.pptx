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0" d="100"/>
          <a:sy n="120" d="100"/>
        </p:scale>
        <p:origin x="198"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Манат Аяра" userId="deb337ed805758c8" providerId="LiveId" clId="{9A04A0DF-FFE1-48AB-B083-D97E71E8AE1A}"/>
    <pc:docChg chg="modSld">
      <pc:chgData name="Манат Аяра" userId="deb337ed805758c8" providerId="LiveId" clId="{9A04A0DF-FFE1-48AB-B083-D97E71E8AE1A}" dt="2026-10-16T12:23:06.420" v="47" actId="14100"/>
      <pc:docMkLst>
        <pc:docMk/>
      </pc:docMkLst>
      <pc:sldChg chg="modSp mod">
        <pc:chgData name="Манат Аяра" userId="deb337ed805758c8" providerId="LiveId" clId="{9A04A0DF-FFE1-48AB-B083-D97E71E8AE1A}" dt="2026-10-16T12:23:06.420" v="47" actId="14100"/>
        <pc:sldMkLst>
          <pc:docMk/>
          <pc:sldMk cId="0" sldId="256"/>
        </pc:sldMkLst>
        <pc:spChg chg="mod">
          <ac:chgData name="Манат Аяра" userId="deb337ed805758c8" providerId="LiveId" clId="{9A04A0DF-FFE1-48AB-B083-D97E71E8AE1A}" dt="2026-10-16T12:17:06.195" v="1" actId="1076"/>
          <ac:spMkLst>
            <pc:docMk/>
            <pc:sldMk cId="0" sldId="256"/>
            <ac:spMk id="5" creationId="{00000000-0000-0000-0000-000000000000}"/>
          </ac:spMkLst>
        </pc:spChg>
        <pc:spChg chg="mod">
          <ac:chgData name="Манат Аяра" userId="deb337ed805758c8" providerId="LiveId" clId="{9A04A0DF-FFE1-48AB-B083-D97E71E8AE1A}" dt="2026-10-16T12:17:57.883" v="10" actId="14100"/>
          <ac:spMkLst>
            <pc:docMk/>
            <pc:sldMk cId="0" sldId="256"/>
            <ac:spMk id="6" creationId="{00000000-0000-0000-0000-000000000000}"/>
          </ac:spMkLst>
        </pc:spChg>
        <pc:spChg chg="mod">
          <ac:chgData name="Манат Аяра" userId="deb337ed805758c8" providerId="LiveId" clId="{9A04A0DF-FFE1-48AB-B083-D97E71E8AE1A}" dt="2026-10-16T12:18:03.600" v="11" actId="14100"/>
          <ac:spMkLst>
            <pc:docMk/>
            <pc:sldMk cId="0" sldId="256"/>
            <ac:spMk id="7" creationId="{00000000-0000-0000-0000-000000000000}"/>
          </ac:spMkLst>
        </pc:spChg>
        <pc:picChg chg="mod">
          <ac:chgData name="Манат Аяра" userId="deb337ed805758c8" providerId="LiveId" clId="{9A04A0DF-FFE1-48AB-B083-D97E71E8AE1A}" dt="2026-10-16T12:23:06.420" v="47" actId="14100"/>
          <ac:picMkLst>
            <pc:docMk/>
            <pc:sldMk cId="0" sldId="256"/>
            <ac:picMk id="4" creationId="{00000000-0000-0000-0000-000000000000}"/>
          </ac:picMkLst>
        </pc:picChg>
      </pc:sldChg>
      <pc:sldChg chg="modSp mod">
        <pc:chgData name="Манат Аяра" userId="deb337ed805758c8" providerId="LiveId" clId="{9A04A0DF-FFE1-48AB-B083-D97E71E8AE1A}" dt="2026-10-16T12:22:55.221" v="44" actId="14100"/>
        <pc:sldMkLst>
          <pc:docMk/>
          <pc:sldMk cId="0" sldId="257"/>
        </pc:sldMkLst>
        <pc:spChg chg="mod">
          <ac:chgData name="Манат Аяра" userId="deb337ed805758c8" providerId="LiveId" clId="{9A04A0DF-FFE1-48AB-B083-D97E71E8AE1A}" dt="2026-10-16T12:18:13.859" v="12" actId="1076"/>
          <ac:spMkLst>
            <pc:docMk/>
            <pc:sldMk cId="0" sldId="257"/>
            <ac:spMk id="5" creationId="{00000000-0000-0000-0000-000000000000}"/>
          </ac:spMkLst>
        </pc:spChg>
        <pc:spChg chg="mod">
          <ac:chgData name="Манат Аяра" userId="deb337ed805758c8" providerId="LiveId" clId="{9A04A0DF-FFE1-48AB-B083-D97E71E8AE1A}" dt="2026-10-16T12:18:22.052" v="13" actId="14100"/>
          <ac:spMkLst>
            <pc:docMk/>
            <pc:sldMk cId="0" sldId="257"/>
            <ac:spMk id="6" creationId="{00000000-0000-0000-0000-000000000000}"/>
          </ac:spMkLst>
        </pc:spChg>
        <pc:picChg chg="mod">
          <ac:chgData name="Манат Аяра" userId="deb337ed805758c8" providerId="LiveId" clId="{9A04A0DF-FFE1-48AB-B083-D97E71E8AE1A}" dt="2026-10-16T12:22:55.221" v="44" actId="14100"/>
          <ac:picMkLst>
            <pc:docMk/>
            <pc:sldMk cId="0" sldId="257"/>
            <ac:picMk id="4" creationId="{00000000-0000-0000-0000-000000000000}"/>
          </ac:picMkLst>
        </pc:picChg>
      </pc:sldChg>
      <pc:sldChg chg="modSp mod">
        <pc:chgData name="Манат Аяра" userId="deb337ed805758c8" providerId="LiveId" clId="{9A04A0DF-FFE1-48AB-B083-D97E71E8AE1A}" dt="2026-10-16T12:20:32.712" v="21" actId="1076"/>
        <pc:sldMkLst>
          <pc:docMk/>
          <pc:sldMk cId="0" sldId="258"/>
        </pc:sldMkLst>
        <pc:spChg chg="mod">
          <ac:chgData name="Манат Аяра" userId="deb337ed805758c8" providerId="LiveId" clId="{9A04A0DF-FFE1-48AB-B083-D97E71E8AE1A}" dt="2026-10-16T12:19:56.166" v="14" actId="1076"/>
          <ac:spMkLst>
            <pc:docMk/>
            <pc:sldMk cId="0" sldId="258"/>
            <ac:spMk id="5" creationId="{00000000-0000-0000-0000-000000000000}"/>
          </ac:spMkLst>
        </pc:spChg>
        <pc:spChg chg="mod">
          <ac:chgData name="Манат Аяра" userId="deb337ed805758c8" providerId="LiveId" clId="{9A04A0DF-FFE1-48AB-B083-D97E71E8AE1A}" dt="2026-10-16T12:20:32.712" v="21" actId="1076"/>
          <ac:spMkLst>
            <pc:docMk/>
            <pc:sldMk cId="0" sldId="258"/>
            <ac:spMk id="6" creationId="{00000000-0000-0000-0000-000000000000}"/>
          </ac:spMkLst>
        </pc:spChg>
        <pc:spChg chg="mod">
          <ac:chgData name="Манат Аяра" userId="deb337ed805758c8" providerId="LiveId" clId="{9A04A0DF-FFE1-48AB-B083-D97E71E8AE1A}" dt="2026-10-16T12:20:29.075" v="20" actId="1076"/>
          <ac:spMkLst>
            <pc:docMk/>
            <pc:sldMk cId="0" sldId="258"/>
            <ac:spMk id="7" creationId="{00000000-0000-0000-0000-000000000000}"/>
          </ac:spMkLst>
        </pc:spChg>
        <pc:spChg chg="mod">
          <ac:chgData name="Манат Аяра" userId="deb337ed805758c8" providerId="LiveId" clId="{9A04A0DF-FFE1-48AB-B083-D97E71E8AE1A}" dt="2026-10-16T12:20:20.520" v="19" actId="1076"/>
          <ac:spMkLst>
            <pc:docMk/>
            <pc:sldMk cId="0" sldId="258"/>
            <ac:spMk id="8" creationId="{00000000-0000-0000-0000-000000000000}"/>
          </ac:spMkLst>
        </pc:spChg>
        <pc:picChg chg="mod">
          <ac:chgData name="Манат Аяра" userId="deb337ed805758c8" providerId="LiveId" clId="{9A04A0DF-FFE1-48AB-B083-D97E71E8AE1A}" dt="2026-10-16T12:20:16.041" v="17" actId="14100"/>
          <ac:picMkLst>
            <pc:docMk/>
            <pc:sldMk cId="0" sldId="258"/>
            <ac:picMk id="4" creationId="{00000000-0000-0000-0000-000000000000}"/>
          </ac:picMkLst>
        </pc:picChg>
      </pc:sldChg>
      <pc:sldChg chg="modSp mod">
        <pc:chgData name="Манат Аяра" userId="deb337ed805758c8" providerId="LiveId" clId="{9A04A0DF-FFE1-48AB-B083-D97E71E8AE1A}" dt="2026-10-16T12:20:48.326" v="24" actId="1076"/>
        <pc:sldMkLst>
          <pc:docMk/>
          <pc:sldMk cId="0" sldId="259"/>
        </pc:sldMkLst>
        <pc:spChg chg="mod">
          <ac:chgData name="Манат Аяра" userId="deb337ed805758c8" providerId="LiveId" clId="{9A04A0DF-FFE1-48AB-B083-D97E71E8AE1A}" dt="2026-10-16T12:20:48.326" v="24" actId="1076"/>
          <ac:spMkLst>
            <pc:docMk/>
            <pc:sldMk cId="0" sldId="259"/>
            <ac:spMk id="5" creationId="{00000000-0000-0000-0000-000000000000}"/>
          </ac:spMkLst>
        </pc:spChg>
        <pc:picChg chg="mod">
          <ac:chgData name="Манат Аяра" userId="deb337ed805758c8" providerId="LiveId" clId="{9A04A0DF-FFE1-48AB-B083-D97E71E8AE1A}" dt="2026-10-16T12:20:42.494" v="23" actId="14100"/>
          <ac:picMkLst>
            <pc:docMk/>
            <pc:sldMk cId="0" sldId="259"/>
            <ac:picMk id="4" creationId="{00000000-0000-0000-0000-000000000000}"/>
          </ac:picMkLst>
        </pc:picChg>
      </pc:sldChg>
      <pc:sldChg chg="modSp mod">
        <pc:chgData name="Манат Аяра" userId="deb337ed805758c8" providerId="LiveId" clId="{9A04A0DF-FFE1-48AB-B083-D97E71E8AE1A}" dt="2026-10-16T12:21:05.585" v="27" actId="14100"/>
        <pc:sldMkLst>
          <pc:docMk/>
          <pc:sldMk cId="0" sldId="260"/>
        </pc:sldMkLst>
        <pc:spChg chg="mod">
          <ac:chgData name="Манат Аяра" userId="deb337ed805758c8" providerId="LiveId" clId="{9A04A0DF-FFE1-48AB-B083-D97E71E8AE1A}" dt="2026-10-16T12:20:59.204" v="25" actId="1076"/>
          <ac:spMkLst>
            <pc:docMk/>
            <pc:sldMk cId="0" sldId="260"/>
            <ac:spMk id="5" creationId="{00000000-0000-0000-0000-000000000000}"/>
          </ac:spMkLst>
        </pc:spChg>
        <pc:picChg chg="mod">
          <ac:chgData name="Манат Аяра" userId="deb337ed805758c8" providerId="LiveId" clId="{9A04A0DF-FFE1-48AB-B083-D97E71E8AE1A}" dt="2026-10-16T12:21:05.585" v="27" actId="14100"/>
          <ac:picMkLst>
            <pc:docMk/>
            <pc:sldMk cId="0" sldId="260"/>
            <ac:picMk id="4" creationId="{00000000-0000-0000-0000-000000000000}"/>
          </ac:picMkLst>
        </pc:picChg>
      </pc:sldChg>
      <pc:sldChg chg="modSp mod">
        <pc:chgData name="Манат Аяра" userId="deb337ed805758c8" providerId="LiveId" clId="{9A04A0DF-FFE1-48AB-B083-D97E71E8AE1A}" dt="2026-10-16T12:21:25.286" v="30" actId="1076"/>
        <pc:sldMkLst>
          <pc:docMk/>
          <pc:sldMk cId="0" sldId="261"/>
        </pc:sldMkLst>
        <pc:spChg chg="mod">
          <ac:chgData name="Манат Аяра" userId="deb337ed805758c8" providerId="LiveId" clId="{9A04A0DF-FFE1-48AB-B083-D97E71E8AE1A}" dt="2026-10-16T12:21:25.286" v="30" actId="1076"/>
          <ac:spMkLst>
            <pc:docMk/>
            <pc:sldMk cId="0" sldId="261"/>
            <ac:spMk id="5" creationId="{00000000-0000-0000-0000-000000000000}"/>
          </ac:spMkLst>
        </pc:spChg>
        <pc:picChg chg="mod">
          <ac:chgData name="Манат Аяра" userId="deb337ed805758c8" providerId="LiveId" clId="{9A04A0DF-FFE1-48AB-B083-D97E71E8AE1A}" dt="2026-10-16T12:21:20.643" v="29" actId="14100"/>
          <ac:picMkLst>
            <pc:docMk/>
            <pc:sldMk cId="0" sldId="261"/>
            <ac:picMk id="4" creationId="{00000000-0000-0000-0000-000000000000}"/>
          </ac:picMkLst>
        </pc:picChg>
      </pc:sldChg>
      <pc:sldChg chg="modSp mod">
        <pc:chgData name="Манат Аяра" userId="deb337ed805758c8" providerId="LiveId" clId="{9A04A0DF-FFE1-48AB-B083-D97E71E8AE1A}" dt="2026-10-16T12:21:42.896" v="33" actId="1076"/>
        <pc:sldMkLst>
          <pc:docMk/>
          <pc:sldMk cId="0" sldId="262"/>
        </pc:sldMkLst>
        <pc:spChg chg="mod">
          <ac:chgData name="Манат Аяра" userId="deb337ed805758c8" providerId="LiveId" clId="{9A04A0DF-FFE1-48AB-B083-D97E71E8AE1A}" dt="2026-10-16T12:21:42.896" v="33" actId="1076"/>
          <ac:spMkLst>
            <pc:docMk/>
            <pc:sldMk cId="0" sldId="262"/>
            <ac:spMk id="5" creationId="{00000000-0000-0000-0000-000000000000}"/>
          </ac:spMkLst>
        </pc:spChg>
        <pc:picChg chg="mod">
          <ac:chgData name="Манат Аяра" userId="deb337ed805758c8" providerId="LiveId" clId="{9A04A0DF-FFE1-48AB-B083-D97E71E8AE1A}" dt="2026-10-16T12:21:35.888" v="32" actId="14100"/>
          <ac:picMkLst>
            <pc:docMk/>
            <pc:sldMk cId="0" sldId="262"/>
            <ac:picMk id="4" creationId="{00000000-0000-0000-0000-000000000000}"/>
          </ac:picMkLst>
        </pc:picChg>
      </pc:sldChg>
      <pc:sldChg chg="modSp mod">
        <pc:chgData name="Манат Аяра" userId="deb337ed805758c8" providerId="LiveId" clId="{9A04A0DF-FFE1-48AB-B083-D97E71E8AE1A}" dt="2026-10-16T12:21:57.430" v="36" actId="1076"/>
        <pc:sldMkLst>
          <pc:docMk/>
          <pc:sldMk cId="0" sldId="263"/>
        </pc:sldMkLst>
        <pc:spChg chg="mod">
          <ac:chgData name="Манат Аяра" userId="deb337ed805758c8" providerId="LiveId" clId="{9A04A0DF-FFE1-48AB-B083-D97E71E8AE1A}" dt="2026-10-16T12:21:57.430" v="36" actId="1076"/>
          <ac:spMkLst>
            <pc:docMk/>
            <pc:sldMk cId="0" sldId="263"/>
            <ac:spMk id="5" creationId="{00000000-0000-0000-0000-000000000000}"/>
          </ac:spMkLst>
        </pc:spChg>
        <pc:picChg chg="mod">
          <ac:chgData name="Манат Аяра" userId="deb337ed805758c8" providerId="LiveId" clId="{9A04A0DF-FFE1-48AB-B083-D97E71E8AE1A}" dt="2026-10-16T12:21:51.621" v="35" actId="14100"/>
          <ac:picMkLst>
            <pc:docMk/>
            <pc:sldMk cId="0" sldId="263"/>
            <ac:picMk id="4" creationId="{00000000-0000-0000-0000-000000000000}"/>
          </ac:picMkLst>
        </pc:picChg>
      </pc:sldChg>
      <pc:sldChg chg="modSp mod">
        <pc:chgData name="Манат Аяра" userId="deb337ed805758c8" providerId="LiveId" clId="{9A04A0DF-FFE1-48AB-B083-D97E71E8AE1A}" dt="2026-10-16T12:22:11.292" v="39" actId="1076"/>
        <pc:sldMkLst>
          <pc:docMk/>
          <pc:sldMk cId="0" sldId="264"/>
        </pc:sldMkLst>
        <pc:spChg chg="mod">
          <ac:chgData name="Манат Аяра" userId="deb337ed805758c8" providerId="LiveId" clId="{9A04A0DF-FFE1-48AB-B083-D97E71E8AE1A}" dt="2026-10-16T12:22:11.292" v="39" actId="1076"/>
          <ac:spMkLst>
            <pc:docMk/>
            <pc:sldMk cId="0" sldId="264"/>
            <ac:spMk id="5" creationId="{00000000-0000-0000-0000-000000000000}"/>
          </ac:spMkLst>
        </pc:spChg>
        <pc:picChg chg="mod">
          <ac:chgData name="Манат Аяра" userId="deb337ed805758c8" providerId="LiveId" clId="{9A04A0DF-FFE1-48AB-B083-D97E71E8AE1A}" dt="2026-10-16T12:22:07.300" v="38" actId="14100"/>
          <ac:picMkLst>
            <pc:docMk/>
            <pc:sldMk cId="0" sldId="264"/>
            <ac:picMk id="4" creationId="{00000000-0000-0000-0000-000000000000}"/>
          </ac:picMkLst>
        </pc:picChg>
      </pc:sldChg>
      <pc:sldChg chg="modSp mod">
        <pc:chgData name="Манат Аяра" userId="deb337ed805758c8" providerId="LiveId" clId="{9A04A0DF-FFE1-48AB-B083-D97E71E8AE1A}" dt="2026-10-16T12:22:35.824" v="42" actId="14100"/>
        <pc:sldMkLst>
          <pc:docMk/>
          <pc:sldMk cId="0" sldId="265"/>
        </pc:sldMkLst>
        <pc:spChg chg="mod">
          <ac:chgData name="Манат Аяра" userId="deb337ed805758c8" providerId="LiveId" clId="{9A04A0DF-FFE1-48AB-B083-D97E71E8AE1A}" dt="2026-10-16T12:22:29.364" v="40" actId="1076"/>
          <ac:spMkLst>
            <pc:docMk/>
            <pc:sldMk cId="0" sldId="265"/>
            <ac:spMk id="5" creationId="{00000000-0000-0000-0000-000000000000}"/>
          </ac:spMkLst>
        </pc:spChg>
        <pc:picChg chg="mod">
          <ac:chgData name="Манат Аяра" userId="deb337ed805758c8" providerId="LiveId" clId="{9A04A0DF-FFE1-48AB-B083-D97E71E8AE1A}" dt="2026-10-16T12:22:35.824" v="42" actId="14100"/>
          <ac:picMkLst>
            <pc:docMk/>
            <pc:sldMk cId="0" sldId="265"/>
            <ac:picMk id="4"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54864"/>
            <a:ext cx="11521440" cy="777240"/>
          </a:xfrm>
          <a:prstGeom prst="rect">
            <a:avLst/>
          </a:prstGeom>
          <a:noFill/>
        </p:spPr>
        <p:txBody>
          <a:bodyPr wrap="square">
            <a:spAutoFit/>
          </a:bodyPr>
          <a:lstStyle/>
          <a:p>
            <a:pPr>
              <a:defRPr sz="1100" b="1">
                <a:solidFill>
                  <a:srgbClr val="93C5FD"/>
                </a:solidFill>
              </a:defRPr>
            </a:pPr>
            <a:r>
              <a:t>ASTANA IT UNIVERSITY · BA 1204 / BA2026 ASSIGNMENT 3: PHOTO ESSAY  |  Student: Manat Amir (Group: DPA-2602)  |  Analytical Commentary: 460 Words</a:t>
            </a:r>
          </a:p>
          <a:p>
            <a:pPr>
              <a:defRPr sz="919" b="1">
                <a:solidFill>
                  <a:srgbClr val="FFFFFF"/>
                </a:solidFill>
              </a:defRPr>
            </a:pPr>
            <a:r>
              <a:t>Thesis: AB Auto (Company B) cuts B2B GAZelle counter lead time from 65 to &lt;15 minutes via AI OCR cataloging, Kaspi cutoffs, and QR bin routing, while human verification governs part quality, four-IP tax caps, and STO credit.</a:t>
            </a:r>
          </a:p>
        </p:txBody>
      </p:sp>
      <p:pic>
        <p:nvPicPr>
          <p:cNvPr id="4" name="Picture 3" descr="visual_01.png"/>
          <p:cNvPicPr>
            <a:picLocks noChangeAspect="1"/>
          </p:cNvPicPr>
          <p:nvPr/>
        </p:nvPicPr>
        <p:blipFill>
          <a:blip r:embed="rId2"/>
          <a:stretch>
            <a:fillRect/>
          </a:stretch>
        </p:blipFill>
        <p:spPr>
          <a:xfrm>
            <a:off x="0" y="554125"/>
            <a:ext cx="12192000" cy="5682996"/>
          </a:xfrm>
          <a:prstGeom prst="rect">
            <a:avLst/>
          </a:prstGeom>
        </p:spPr>
      </p:pic>
      <p:sp>
        <p:nvSpPr>
          <p:cNvPr id="5" name="TextBox 4"/>
          <p:cNvSpPr txBox="1"/>
          <p:nvPr/>
        </p:nvSpPr>
        <p:spPr>
          <a:xfrm>
            <a:off x="365760" y="6638544"/>
            <a:ext cx="11365992" cy="292608"/>
          </a:xfrm>
          <a:prstGeom prst="rect">
            <a:avLst/>
          </a:prstGeom>
          <a:noFill/>
        </p:spPr>
        <p:txBody>
          <a:bodyPr wrap="square">
            <a:spAutoFit/>
          </a:bodyPr>
          <a:lstStyle/>
          <a:p>
            <a:pPr>
              <a:defRPr sz="880" i="1">
                <a:solidFill>
                  <a:srgbClr val="334155"/>
                </a:solidFill>
                <a:latin typeface="Calibri"/>
              </a:defRPr>
            </a:pPr>
            <a:r>
              <a:rPr dirty="0"/>
              <a:t>Source: Author's operational architecture diagram compiled from AB Auto 4-IP registration records and </a:t>
            </a:r>
            <a:r>
              <a:rPr dirty="0" err="1"/>
              <a:t>Interkom</a:t>
            </a:r>
            <a:r>
              <a:rPr dirty="0"/>
              <a:t>-Auto B2B portal data [4], [5], [6], [8]. [Layout formatted with Level 2 AI script assistance].</a:t>
            </a:r>
          </a:p>
        </p:txBody>
      </p:sp>
      <p:sp>
        <p:nvSpPr>
          <p:cNvPr id="6" name="Rounded Rectangle 5"/>
          <p:cNvSpPr/>
          <p:nvPr/>
        </p:nvSpPr>
        <p:spPr>
          <a:xfrm>
            <a:off x="985961" y="6011039"/>
            <a:ext cx="10662700" cy="604645"/>
          </a:xfrm>
          <a:prstGeom prst="roundRect">
            <a:avLst/>
          </a:prstGeom>
          <a:solidFill>
            <a:srgbClr val="F1F5F9"/>
          </a:solidFill>
          <a:ln w="1524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5961" y="6024755"/>
            <a:ext cx="10455966" cy="424732"/>
          </a:xfrm>
          <a:prstGeom prst="rect">
            <a:avLst/>
          </a:prstGeom>
          <a:noFill/>
        </p:spPr>
        <p:txBody>
          <a:bodyPr wrap="square">
            <a:spAutoFit/>
          </a:bodyPr>
          <a:lstStyle/>
          <a:p>
            <a:pPr>
              <a:defRPr sz="1080">
                <a:solidFill>
                  <a:srgbClr val="0F172A"/>
                </a:solidFill>
                <a:latin typeface="Calibri"/>
              </a:defRPr>
            </a:pPr>
            <a:r>
              <a:rPr dirty="0"/>
              <a:t>Analytical Commentary (Visual 1 — 49 words): AB Auto (Company B) creates urban logistics value in Astana by supplying </a:t>
            </a:r>
            <a:r>
              <a:rPr dirty="0" err="1"/>
              <a:t>GAZelle</a:t>
            </a:r>
            <a:r>
              <a:rPr dirty="0"/>
              <a:t> spare parts across its </a:t>
            </a:r>
            <a:r>
              <a:rPr dirty="0" err="1"/>
              <a:t>Koktal</a:t>
            </a:r>
            <a:r>
              <a:rPr dirty="0"/>
              <a:t> 15B warehouse and </a:t>
            </a:r>
            <a:r>
              <a:rPr dirty="0" err="1"/>
              <a:t>Abylai</a:t>
            </a:r>
            <a:r>
              <a:rPr dirty="0"/>
              <a:t> Khan 62 counter under four Individual Proprietorships (IPs) [4, 5, 8]. Unlike </a:t>
            </a:r>
            <a:r>
              <a:rPr dirty="0" err="1"/>
              <a:t>Interkom</a:t>
            </a:r>
            <a:r>
              <a:rPr dirty="0"/>
              <a:t>-Auto’s (Company A) ERP, AB Auto pairs AI speed with human governance [1, 3, 6].</a:t>
            </a:r>
          </a:p>
        </p:txBody>
      </p:sp>
      <p:sp>
        <p:nvSpPr>
          <p:cNvPr id="8" name="TextBox 7"/>
          <p:cNvSpPr txBox="1"/>
          <p:nvPr/>
        </p:nvSpPr>
        <p:spPr>
          <a:xfrm>
            <a:off x="365760" y="6510528"/>
            <a:ext cx="11460175" cy="274320"/>
          </a:xfrm>
          <a:prstGeom prst="rect">
            <a:avLst/>
          </a:prstGeom>
          <a:noFill/>
        </p:spPr>
        <p:txBody>
          <a:bodyPr wrap="square">
            <a:spAutoFit/>
          </a:bodyPr>
          <a:lstStyle/>
          <a:p>
            <a:pPr>
              <a:defRPr sz="850">
                <a:solidFill>
                  <a:srgbClr val="64748B"/>
                </a:solidFill>
                <a:latin typeface="Calibri"/>
              </a:defRPr>
            </a:pPr>
            <a:r>
              <a:t>Manat Amir (DPA-2602)  |  BA 1204 / BA2026 Assignment 3: Photo Essay  |  Company B: AB Auto vs. Company A: Interkom-Auto  |  Page 1 of 11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54864"/>
            <a:ext cx="11521440" cy="777240"/>
          </a:xfrm>
          <a:prstGeom prst="rect">
            <a:avLst/>
          </a:prstGeom>
          <a:noFill/>
        </p:spPr>
        <p:txBody>
          <a:bodyPr wrap="square">
            <a:spAutoFit/>
          </a:bodyPr>
          <a:lstStyle/>
          <a:p>
            <a:pPr>
              <a:defRPr sz="1000" b="1">
                <a:solidFill>
                  <a:srgbClr val="93C5FD"/>
                </a:solidFill>
              </a:defRPr>
            </a:pPr>
            <a:r>
              <a:t>SECTION 2 · CUSTOMER SEGMENTATION &amp; VALUE CREATION (WEEK 6)</a:t>
            </a:r>
          </a:p>
          <a:p>
            <a:pPr>
              <a:defRPr sz="1350" b="1">
                <a:solidFill>
                  <a:srgbClr val="FFFFFF"/>
                </a:solidFill>
              </a:defRPr>
            </a:pPr>
            <a:r>
              <a:t>Visual 2: B2B &amp; B2C Customer Segmentation and Five-Stage Counter Journey</a:t>
            </a:r>
          </a:p>
        </p:txBody>
      </p:sp>
      <p:pic>
        <p:nvPicPr>
          <p:cNvPr id="4" name="Picture 3" descr="visual_02.png"/>
          <p:cNvPicPr>
            <a:picLocks noChangeAspect="1"/>
          </p:cNvPicPr>
          <p:nvPr/>
        </p:nvPicPr>
        <p:blipFill>
          <a:blip r:embed="rId2"/>
          <a:stretch>
            <a:fillRect/>
          </a:stretch>
        </p:blipFill>
        <p:spPr>
          <a:xfrm>
            <a:off x="0" y="0"/>
            <a:ext cx="12192000" cy="5682996"/>
          </a:xfrm>
          <a:prstGeom prst="rect">
            <a:avLst/>
          </a:prstGeom>
        </p:spPr>
      </p:pic>
      <p:sp>
        <p:nvSpPr>
          <p:cNvPr id="5" name="TextBox 4"/>
          <p:cNvSpPr txBox="1"/>
          <p:nvPr/>
        </p:nvSpPr>
        <p:spPr>
          <a:xfrm>
            <a:off x="365760" y="6638544"/>
            <a:ext cx="11365992" cy="292608"/>
          </a:xfrm>
          <a:prstGeom prst="rect">
            <a:avLst/>
          </a:prstGeom>
          <a:noFill/>
        </p:spPr>
        <p:txBody>
          <a:bodyPr wrap="square">
            <a:spAutoFit/>
          </a:bodyPr>
          <a:lstStyle/>
          <a:p>
            <a:pPr>
              <a:defRPr sz="880" i="1">
                <a:solidFill>
                  <a:srgbClr val="334155"/>
                </a:solidFill>
                <a:latin typeface="Calibri"/>
              </a:defRPr>
            </a:pPr>
            <a:r>
              <a:rPr dirty="0"/>
              <a:t>Source: Author's customer journey map synthesized from Weekly Record 6 field interviews and </a:t>
            </a:r>
            <a:r>
              <a:rPr dirty="0" err="1"/>
              <a:t>Koktal</a:t>
            </a:r>
            <a:r>
              <a:rPr dirty="0"/>
              <a:t> 15B counter STO credit notebooks [1], [4], [7], [8]. [Layout formatted with Level 2 AI script assistance].</a:t>
            </a:r>
          </a:p>
        </p:txBody>
      </p:sp>
      <p:sp>
        <p:nvSpPr>
          <p:cNvPr id="6" name="Rounded Rectangle 5"/>
          <p:cNvSpPr/>
          <p:nvPr/>
        </p:nvSpPr>
        <p:spPr>
          <a:xfrm>
            <a:off x="411480" y="5486400"/>
            <a:ext cx="11365992" cy="628153"/>
          </a:xfrm>
          <a:prstGeom prst="roundRect">
            <a:avLst/>
          </a:prstGeom>
          <a:solidFill>
            <a:srgbClr val="F1F5F9"/>
          </a:solidFill>
          <a:ln w="1524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5522976"/>
            <a:ext cx="11183112" cy="877824"/>
          </a:xfrm>
          <a:prstGeom prst="rect">
            <a:avLst/>
          </a:prstGeom>
          <a:noFill/>
        </p:spPr>
        <p:txBody>
          <a:bodyPr wrap="square">
            <a:spAutoFit/>
          </a:bodyPr>
          <a:lstStyle/>
          <a:p>
            <a:pPr>
              <a:defRPr sz="1080">
                <a:solidFill>
                  <a:srgbClr val="0F172A"/>
                </a:solidFill>
                <a:latin typeface="Calibri"/>
              </a:defRPr>
            </a:pPr>
            <a:r>
              <a:rPr dirty="0"/>
              <a:t>Analytical Commentary (Visual 2 — 43 words): Weekly Record 6 segments buyers into partnering repair garages (STOs) using five-to-seven-year debt ledgers, corporate fleets like </a:t>
            </a:r>
            <a:r>
              <a:rPr dirty="0" err="1"/>
              <a:t>Stolichny</a:t>
            </a:r>
            <a:r>
              <a:rPr dirty="0"/>
              <a:t> </a:t>
            </a:r>
            <a:r>
              <a:rPr dirty="0" err="1"/>
              <a:t>Khleb</a:t>
            </a:r>
            <a:r>
              <a:rPr dirty="0"/>
              <a:t> LLP requiring electronic tax invoices (ESF), and cash-sensitive drivers [4, 8]. Because breakdowns halt deliveries, rapid counter dispatch drives value across segments [1, 7].</a:t>
            </a:r>
          </a:p>
        </p:txBody>
      </p:sp>
      <p:sp>
        <p:nvSpPr>
          <p:cNvPr id="8" name="TextBox 7"/>
          <p:cNvSpPr txBox="1"/>
          <p:nvPr/>
        </p:nvSpPr>
        <p:spPr>
          <a:xfrm>
            <a:off x="365760" y="6510528"/>
            <a:ext cx="11460175" cy="274320"/>
          </a:xfrm>
          <a:prstGeom prst="rect">
            <a:avLst/>
          </a:prstGeom>
          <a:noFill/>
        </p:spPr>
        <p:txBody>
          <a:bodyPr wrap="square">
            <a:spAutoFit/>
          </a:bodyPr>
          <a:lstStyle/>
          <a:p>
            <a:pPr>
              <a:defRPr sz="850">
                <a:solidFill>
                  <a:srgbClr val="64748B"/>
                </a:solidFill>
                <a:latin typeface="Calibri"/>
              </a:defRPr>
            </a:pPr>
            <a:r>
              <a:t>Manat Amir (DPA-2602)  |  BA 1204 / BA2026 Assignment 3: Photo Essay  |  Company B: AB Auto vs. Company A: Interkom-Auto  |  Page 2 of 11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54864"/>
            <a:ext cx="11521440" cy="777240"/>
          </a:xfrm>
          <a:prstGeom prst="rect">
            <a:avLst/>
          </a:prstGeom>
          <a:noFill/>
        </p:spPr>
        <p:txBody>
          <a:bodyPr wrap="square">
            <a:spAutoFit/>
          </a:bodyPr>
          <a:lstStyle/>
          <a:p>
            <a:pPr>
              <a:defRPr sz="1000" b="1">
                <a:solidFill>
                  <a:srgbClr val="93C5FD"/>
                </a:solidFill>
              </a:defRPr>
            </a:pPr>
            <a:r>
              <a:t>SECTION 2 · CUSTOMER SEGMENTATION &amp; VALUE CREATION (WEEK 6)</a:t>
            </a:r>
          </a:p>
          <a:p>
            <a:pPr>
              <a:defRPr sz="1350" b="1">
                <a:solidFill>
                  <a:srgbClr val="FFFFFF"/>
                </a:solidFill>
              </a:defRPr>
            </a:pPr>
            <a:r>
              <a:t>Visual 3: Fleet Downtime Economics &amp; September 2026 Koktal Logbook Baseline KPI</a:t>
            </a:r>
          </a:p>
        </p:txBody>
      </p:sp>
      <p:pic>
        <p:nvPicPr>
          <p:cNvPr id="4" name="Picture 3" descr="visual_03.png"/>
          <p:cNvPicPr>
            <a:picLocks noChangeAspect="1"/>
          </p:cNvPicPr>
          <p:nvPr/>
        </p:nvPicPr>
        <p:blipFill>
          <a:blip r:embed="rId2"/>
          <a:stretch>
            <a:fillRect/>
          </a:stretch>
        </p:blipFill>
        <p:spPr>
          <a:xfrm>
            <a:off x="5963" y="0"/>
            <a:ext cx="12022372" cy="6011186"/>
          </a:xfrm>
          <a:prstGeom prst="rect">
            <a:avLst/>
          </a:prstGeom>
        </p:spPr>
      </p:pic>
      <p:sp>
        <p:nvSpPr>
          <p:cNvPr id="5" name="TextBox 4"/>
          <p:cNvSpPr txBox="1"/>
          <p:nvPr/>
        </p:nvSpPr>
        <p:spPr>
          <a:xfrm>
            <a:off x="327991" y="6638544"/>
            <a:ext cx="11365992" cy="292608"/>
          </a:xfrm>
          <a:prstGeom prst="rect">
            <a:avLst/>
          </a:prstGeom>
          <a:noFill/>
        </p:spPr>
        <p:txBody>
          <a:bodyPr wrap="square">
            <a:spAutoFit/>
          </a:bodyPr>
          <a:lstStyle/>
          <a:p>
            <a:pPr>
              <a:defRPr sz="880" i="1">
                <a:solidFill>
                  <a:srgbClr val="334155"/>
                </a:solidFill>
                <a:latin typeface="Calibri"/>
              </a:defRPr>
            </a:pPr>
            <a:r>
              <a:rPr dirty="0"/>
              <a:t>Source: Author's time-motion chart from AB Auto's September 2026 </a:t>
            </a:r>
            <a:r>
              <a:rPr dirty="0" err="1"/>
              <a:t>Koktal</a:t>
            </a:r>
            <a:r>
              <a:rPr dirty="0"/>
              <a:t> 15B In-Store Counter Order Logbook (n = 45 morning peak B2B orders) and Astana freight data [1], [4], [7]. [Level 2 AI-formatted chart].</a:t>
            </a:r>
          </a:p>
        </p:txBody>
      </p:sp>
      <p:sp>
        <p:nvSpPr>
          <p:cNvPr id="6" name="Rounded Rectangle 5"/>
          <p:cNvSpPr/>
          <p:nvPr/>
        </p:nvSpPr>
        <p:spPr>
          <a:xfrm>
            <a:off x="327991" y="5870448"/>
            <a:ext cx="11274552" cy="524786"/>
          </a:xfrm>
          <a:prstGeom prst="roundRect">
            <a:avLst/>
          </a:prstGeom>
          <a:solidFill>
            <a:srgbClr val="F1F5F9"/>
          </a:solidFill>
          <a:ln w="1524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8571" y="5907024"/>
            <a:ext cx="11183112" cy="877824"/>
          </a:xfrm>
          <a:prstGeom prst="rect">
            <a:avLst/>
          </a:prstGeom>
          <a:noFill/>
        </p:spPr>
        <p:txBody>
          <a:bodyPr wrap="square">
            <a:spAutoFit/>
          </a:bodyPr>
          <a:lstStyle/>
          <a:p>
            <a:pPr>
              <a:defRPr sz="1080">
                <a:solidFill>
                  <a:srgbClr val="0F172A"/>
                </a:solidFill>
                <a:latin typeface="Calibri"/>
              </a:defRPr>
            </a:pPr>
            <a:r>
              <a:rPr dirty="0"/>
              <a:t>Analytical Commentary (Visual 3 — 47 words): Immobilized </a:t>
            </a:r>
            <a:r>
              <a:rPr dirty="0" err="1"/>
              <a:t>GAZelle</a:t>
            </a:r>
            <a:r>
              <a:rPr dirty="0"/>
              <a:t> vans cost fleets over 25,000 KZT daily in lost revenue [4, 7]. Auditing the September 2026 in-store counter order logbook at </a:t>
            </a:r>
            <a:r>
              <a:rPr dirty="0" err="1"/>
              <a:t>Koktal</a:t>
            </a:r>
            <a:r>
              <a:rPr dirty="0"/>
              <a:t> 15B (n = 45 peak orders) established our 65-minute baseline Order-to-Dispatch Lead Time, including 35 minutes lost to cross-hub phone checks [1, 4].</a:t>
            </a:r>
          </a:p>
        </p:txBody>
      </p:sp>
      <p:sp>
        <p:nvSpPr>
          <p:cNvPr id="8" name="TextBox 7"/>
          <p:cNvSpPr txBox="1"/>
          <p:nvPr/>
        </p:nvSpPr>
        <p:spPr>
          <a:xfrm>
            <a:off x="320040" y="6494625"/>
            <a:ext cx="11460175" cy="274320"/>
          </a:xfrm>
          <a:prstGeom prst="rect">
            <a:avLst/>
          </a:prstGeom>
          <a:noFill/>
        </p:spPr>
        <p:txBody>
          <a:bodyPr wrap="square">
            <a:spAutoFit/>
          </a:bodyPr>
          <a:lstStyle/>
          <a:p>
            <a:pPr>
              <a:defRPr sz="850">
                <a:solidFill>
                  <a:srgbClr val="64748B"/>
                </a:solidFill>
                <a:latin typeface="Calibri"/>
              </a:defRPr>
            </a:pPr>
            <a:r>
              <a:t>Manat Amir (DPA-2602)  |  BA 1204 / BA2026 Assignment 3: Photo Essay  |  Company B: AB Auto vs. Company A: Interkom-Auto  |  Page 3 of 11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54864"/>
            <a:ext cx="11521440" cy="777240"/>
          </a:xfrm>
          <a:prstGeom prst="rect">
            <a:avLst/>
          </a:prstGeom>
          <a:noFill/>
        </p:spPr>
        <p:txBody>
          <a:bodyPr wrap="square">
            <a:spAutoFit/>
          </a:bodyPr>
          <a:lstStyle/>
          <a:p>
            <a:pPr>
              <a:defRPr sz="1000" b="1">
                <a:solidFill>
                  <a:srgbClr val="93C5FD"/>
                </a:solidFill>
              </a:defRPr>
            </a:pPr>
            <a:r>
              <a:t>SECTION 2 · CUSTOMER SEGMENTATION &amp; VALUE CREATION (WEEK 6)</a:t>
            </a:r>
          </a:p>
          <a:p>
            <a:pPr>
              <a:defRPr sz="1350" b="1">
                <a:solidFill>
                  <a:srgbClr val="FFFFFF"/>
                </a:solidFill>
              </a:defRPr>
            </a:pPr>
            <a:r>
              <a:t>Visual 4: Omnichannel Counter Touchpoints &amp; Ethical Dual-Brand Positioning</a:t>
            </a:r>
          </a:p>
        </p:txBody>
      </p:sp>
      <p:pic>
        <p:nvPicPr>
          <p:cNvPr id="4" name="Picture 3" descr="visual_04.png"/>
          <p:cNvPicPr>
            <a:picLocks noChangeAspect="1"/>
          </p:cNvPicPr>
          <p:nvPr/>
        </p:nvPicPr>
        <p:blipFill>
          <a:blip r:embed="rId2"/>
          <a:stretch>
            <a:fillRect/>
          </a:stretch>
        </p:blipFill>
        <p:spPr>
          <a:xfrm>
            <a:off x="0" y="0"/>
            <a:ext cx="12192000" cy="5682996"/>
          </a:xfrm>
          <a:prstGeom prst="rect">
            <a:avLst/>
          </a:prstGeom>
        </p:spPr>
      </p:pic>
      <p:sp>
        <p:nvSpPr>
          <p:cNvPr id="5" name="TextBox 4"/>
          <p:cNvSpPr txBox="1"/>
          <p:nvPr/>
        </p:nvSpPr>
        <p:spPr>
          <a:xfrm>
            <a:off x="365760" y="6647688"/>
            <a:ext cx="11365992" cy="292608"/>
          </a:xfrm>
          <a:prstGeom prst="rect">
            <a:avLst/>
          </a:prstGeom>
          <a:noFill/>
        </p:spPr>
        <p:txBody>
          <a:bodyPr wrap="square">
            <a:spAutoFit/>
          </a:bodyPr>
          <a:lstStyle/>
          <a:p>
            <a:pPr>
              <a:defRPr sz="880" i="1">
                <a:solidFill>
                  <a:srgbClr val="334155"/>
                </a:solidFill>
                <a:latin typeface="Calibri"/>
              </a:defRPr>
            </a:pPr>
            <a:r>
              <a:rPr dirty="0"/>
              <a:t>Source: Author's omnichannel touchpoint and brand trade-off matrix from </a:t>
            </a:r>
            <a:r>
              <a:rPr dirty="0" err="1"/>
              <a:t>Koktal</a:t>
            </a:r>
            <a:r>
              <a:rPr dirty="0"/>
              <a:t> 15B price lists, EAEU freight logs, and Kaspi rules [1], [2], [4], [9]. [Layout formatted with Level 2 AI script assistance].</a:t>
            </a:r>
          </a:p>
        </p:txBody>
      </p:sp>
      <p:sp>
        <p:nvSpPr>
          <p:cNvPr id="6" name="Rounded Rectangle 5"/>
          <p:cNvSpPr/>
          <p:nvPr/>
        </p:nvSpPr>
        <p:spPr>
          <a:xfrm>
            <a:off x="411480" y="5486400"/>
            <a:ext cx="11365992" cy="960120"/>
          </a:xfrm>
          <a:prstGeom prst="roundRect">
            <a:avLst/>
          </a:prstGeom>
          <a:solidFill>
            <a:srgbClr val="F1F5F9"/>
          </a:solidFill>
          <a:ln w="1524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5522976"/>
            <a:ext cx="11183112" cy="877824"/>
          </a:xfrm>
          <a:prstGeom prst="rect">
            <a:avLst/>
          </a:prstGeom>
          <a:noFill/>
        </p:spPr>
        <p:txBody>
          <a:bodyPr wrap="square">
            <a:spAutoFit/>
          </a:bodyPr>
          <a:lstStyle/>
          <a:p>
            <a:pPr>
              <a:defRPr sz="1080">
                <a:solidFill>
                  <a:srgbClr val="0F172A"/>
                </a:solidFill>
                <a:latin typeface="Calibri"/>
              </a:defRPr>
            </a:pPr>
            <a:r>
              <a:t>Analytical Commentary (Visual 4 — 40 words): One-to-three-day EAEU border delays deplete Russian KraftTech OEM stock, forcing trade-offs with Chinese LYNX substitutes [2, 4]. Across WhatsApp, counter, and Kaspi QR touchpoints, advisors preserve mechanic trust via mandatory verbal warranty disclosures rather than rigid scripts [1, 4, 9].</a:t>
            </a:r>
          </a:p>
        </p:txBody>
      </p:sp>
      <p:sp>
        <p:nvSpPr>
          <p:cNvPr id="8" name="TextBox 7"/>
          <p:cNvSpPr txBox="1"/>
          <p:nvPr/>
        </p:nvSpPr>
        <p:spPr>
          <a:xfrm>
            <a:off x="365760" y="6510528"/>
            <a:ext cx="11460175" cy="274320"/>
          </a:xfrm>
          <a:prstGeom prst="rect">
            <a:avLst/>
          </a:prstGeom>
          <a:noFill/>
        </p:spPr>
        <p:txBody>
          <a:bodyPr wrap="square">
            <a:spAutoFit/>
          </a:bodyPr>
          <a:lstStyle/>
          <a:p>
            <a:pPr>
              <a:defRPr sz="850">
                <a:solidFill>
                  <a:srgbClr val="64748B"/>
                </a:solidFill>
                <a:latin typeface="Calibri"/>
              </a:defRPr>
            </a:pPr>
            <a:r>
              <a:t>Manat Amir (DPA-2602)  |  BA 1204 / BA2026 Assignment 3: Photo Essay  |  Company B: AB Auto vs. Company A: Interkom-Auto  |  Page 4 of 11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54864"/>
            <a:ext cx="11521440" cy="777240"/>
          </a:xfrm>
          <a:prstGeom prst="rect">
            <a:avLst/>
          </a:prstGeom>
          <a:noFill/>
        </p:spPr>
        <p:txBody>
          <a:bodyPr wrap="square">
            <a:spAutoFit/>
          </a:bodyPr>
          <a:lstStyle/>
          <a:p>
            <a:pPr>
              <a:defRPr sz="1000" b="1">
                <a:solidFill>
                  <a:srgbClr val="93C5FD"/>
                </a:solidFill>
              </a:defRPr>
            </a:pPr>
            <a:r>
              <a:t>SECTION 3 · HUMAN-ONLY VS. AI-SUPPORTED MARKETING COMPARISON (WEEK 6)</a:t>
            </a:r>
          </a:p>
          <a:p>
            <a:pPr>
              <a:defRPr sz="1350" b="1">
                <a:solidFill>
                  <a:srgbClr val="FFFFFF"/>
                </a:solidFill>
              </a:defRPr>
            </a:pPr>
            <a:r>
              <a:t>Visual 5: Structured 5 Ps Comparison — Analogue vs. Governed Human + AI Marketing</a:t>
            </a:r>
          </a:p>
        </p:txBody>
      </p:sp>
      <p:pic>
        <p:nvPicPr>
          <p:cNvPr id="4" name="Picture 3" descr="visual_05.png"/>
          <p:cNvPicPr>
            <a:picLocks noChangeAspect="1"/>
          </p:cNvPicPr>
          <p:nvPr/>
        </p:nvPicPr>
        <p:blipFill>
          <a:blip r:embed="rId2"/>
          <a:stretch>
            <a:fillRect/>
          </a:stretch>
        </p:blipFill>
        <p:spPr>
          <a:xfrm>
            <a:off x="-1" y="0"/>
            <a:ext cx="12191695" cy="5682996"/>
          </a:xfrm>
          <a:prstGeom prst="rect">
            <a:avLst/>
          </a:prstGeom>
        </p:spPr>
      </p:pic>
      <p:sp>
        <p:nvSpPr>
          <p:cNvPr id="5" name="TextBox 4"/>
          <p:cNvSpPr txBox="1"/>
          <p:nvPr/>
        </p:nvSpPr>
        <p:spPr>
          <a:xfrm>
            <a:off x="365760" y="6678897"/>
            <a:ext cx="11365992" cy="292608"/>
          </a:xfrm>
          <a:prstGeom prst="rect">
            <a:avLst/>
          </a:prstGeom>
          <a:noFill/>
        </p:spPr>
        <p:txBody>
          <a:bodyPr wrap="square">
            <a:spAutoFit/>
          </a:bodyPr>
          <a:lstStyle/>
          <a:p>
            <a:pPr>
              <a:defRPr sz="880" i="1">
                <a:solidFill>
                  <a:srgbClr val="334155"/>
                </a:solidFill>
                <a:latin typeface="Calibri"/>
              </a:defRPr>
            </a:pPr>
            <a:r>
              <a:rPr dirty="0"/>
              <a:t>Source: Author's Week 6 5 Ps marketing evaluation across AB Auto's 4 IPs and OpenStax Ch. 11–12 frameworks [1], [2], [3], [8]. [Layout formatted with Level 2 AI script assistance].</a:t>
            </a:r>
          </a:p>
        </p:txBody>
      </p:sp>
      <p:sp>
        <p:nvSpPr>
          <p:cNvPr id="6" name="Rounded Rectangle 5"/>
          <p:cNvSpPr/>
          <p:nvPr/>
        </p:nvSpPr>
        <p:spPr>
          <a:xfrm>
            <a:off x="411480" y="5486400"/>
            <a:ext cx="11365992" cy="960120"/>
          </a:xfrm>
          <a:prstGeom prst="roundRect">
            <a:avLst/>
          </a:prstGeom>
          <a:solidFill>
            <a:srgbClr val="F1F5F9"/>
          </a:solidFill>
          <a:ln w="1524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5522976"/>
            <a:ext cx="11183112" cy="877824"/>
          </a:xfrm>
          <a:prstGeom prst="rect">
            <a:avLst/>
          </a:prstGeom>
          <a:noFill/>
        </p:spPr>
        <p:txBody>
          <a:bodyPr wrap="square">
            <a:spAutoFit/>
          </a:bodyPr>
          <a:lstStyle/>
          <a:p>
            <a:pPr>
              <a:defRPr sz="1080">
                <a:solidFill>
                  <a:srgbClr val="0F172A"/>
                </a:solidFill>
                <a:latin typeface="Calibri"/>
              </a:defRPr>
            </a:pPr>
            <a:r>
              <a:t>Analytical Commentary (Visual 5 — 44 words): Comparing human-only versus AI-supported marketing across the 5 Ps shows multimodal vision accelerates OEM cross-referencing, whereas unchecked pricing automation threatens tax compliance [1, 3]. Thus, the Owner enforces an 18% gross margin floor and balances turnover across four IPs under Article 683 [2, 8].</a:t>
            </a:r>
          </a:p>
        </p:txBody>
      </p:sp>
      <p:sp>
        <p:nvSpPr>
          <p:cNvPr id="8" name="TextBox 7"/>
          <p:cNvSpPr txBox="1"/>
          <p:nvPr/>
        </p:nvSpPr>
        <p:spPr>
          <a:xfrm>
            <a:off x="365760" y="6510528"/>
            <a:ext cx="11460175" cy="274320"/>
          </a:xfrm>
          <a:prstGeom prst="rect">
            <a:avLst/>
          </a:prstGeom>
          <a:noFill/>
        </p:spPr>
        <p:txBody>
          <a:bodyPr wrap="square">
            <a:spAutoFit/>
          </a:bodyPr>
          <a:lstStyle/>
          <a:p>
            <a:pPr>
              <a:defRPr sz="850">
                <a:solidFill>
                  <a:srgbClr val="64748B"/>
                </a:solidFill>
                <a:latin typeface="Calibri"/>
              </a:defRPr>
            </a:pPr>
            <a:r>
              <a:t>Manat Amir (DPA-2602)  |  BA 1204 / BA2026 Assignment 3: Photo Essay  |  Company B: AB Auto vs. Company A: Interkom-Auto  |  Page 5 of 11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54864"/>
            <a:ext cx="11521440" cy="777240"/>
          </a:xfrm>
          <a:prstGeom prst="rect">
            <a:avLst/>
          </a:prstGeom>
          <a:noFill/>
        </p:spPr>
        <p:txBody>
          <a:bodyPr wrap="square">
            <a:spAutoFit/>
          </a:bodyPr>
          <a:lstStyle/>
          <a:p>
            <a:pPr>
              <a:defRPr sz="1000" b="1">
                <a:solidFill>
                  <a:srgbClr val="93C5FD"/>
                </a:solidFill>
              </a:defRPr>
            </a:pPr>
            <a:r>
              <a:t>SECTION 3 · HUMAN-ONLY VS. AI-SUPPORTED MARKETING COMPARISON (WEEK 6)</a:t>
            </a:r>
          </a:p>
          <a:p>
            <a:pPr>
              <a:defRPr sz="1350" b="1">
                <a:solidFill>
                  <a:srgbClr val="FFFFFF"/>
                </a:solidFill>
              </a:defRPr>
            </a:pPr>
            <a:r>
              <a:t>Visual 6: Empirical Kaspi Shop Cataloging &amp; Zero-Stock Cutoff Performance</a:t>
            </a:r>
          </a:p>
        </p:txBody>
      </p:sp>
      <p:pic>
        <p:nvPicPr>
          <p:cNvPr id="4" name="Picture 3" descr="visual_06.png"/>
          <p:cNvPicPr>
            <a:picLocks noChangeAspect="1"/>
          </p:cNvPicPr>
          <p:nvPr/>
        </p:nvPicPr>
        <p:blipFill>
          <a:blip r:embed="rId2"/>
          <a:stretch>
            <a:fillRect/>
          </a:stretch>
        </p:blipFill>
        <p:spPr>
          <a:xfrm>
            <a:off x="0" y="0"/>
            <a:ext cx="12192000" cy="5682996"/>
          </a:xfrm>
          <a:prstGeom prst="rect">
            <a:avLst/>
          </a:prstGeom>
        </p:spPr>
      </p:pic>
      <p:sp>
        <p:nvSpPr>
          <p:cNvPr id="5" name="TextBox 4"/>
          <p:cNvSpPr txBox="1"/>
          <p:nvPr/>
        </p:nvSpPr>
        <p:spPr>
          <a:xfrm>
            <a:off x="365760" y="6638544"/>
            <a:ext cx="11365992" cy="292608"/>
          </a:xfrm>
          <a:prstGeom prst="rect">
            <a:avLst/>
          </a:prstGeom>
          <a:noFill/>
        </p:spPr>
        <p:txBody>
          <a:bodyPr wrap="square">
            <a:spAutoFit/>
          </a:bodyPr>
          <a:lstStyle/>
          <a:p>
            <a:pPr>
              <a:defRPr sz="880" i="1">
                <a:solidFill>
                  <a:srgbClr val="334155"/>
                </a:solidFill>
                <a:latin typeface="Calibri"/>
              </a:defRPr>
            </a:pPr>
            <a:r>
              <a:rPr dirty="0"/>
              <a:t>Source: Author's Week 6 empirical trial on n = 20 </a:t>
            </a:r>
            <a:r>
              <a:rPr dirty="0" err="1"/>
              <a:t>GAZelle</a:t>
            </a:r>
            <a:r>
              <a:rPr dirty="0"/>
              <a:t> clutch/suspension SKUs on Kaspi Shop and abavto.tilda.ws [1], [4], [5], [9]. [Level 2 AI-formatted chart].</a:t>
            </a:r>
          </a:p>
        </p:txBody>
      </p:sp>
      <p:sp>
        <p:nvSpPr>
          <p:cNvPr id="6" name="Rounded Rectangle 5"/>
          <p:cNvSpPr/>
          <p:nvPr/>
        </p:nvSpPr>
        <p:spPr>
          <a:xfrm>
            <a:off x="411480" y="5486400"/>
            <a:ext cx="11365992" cy="960120"/>
          </a:xfrm>
          <a:prstGeom prst="roundRect">
            <a:avLst/>
          </a:prstGeom>
          <a:solidFill>
            <a:srgbClr val="F1F5F9"/>
          </a:solidFill>
          <a:ln w="1524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5522976"/>
            <a:ext cx="11183112" cy="877824"/>
          </a:xfrm>
          <a:prstGeom prst="rect">
            <a:avLst/>
          </a:prstGeom>
          <a:noFill/>
        </p:spPr>
        <p:txBody>
          <a:bodyPr wrap="square">
            <a:spAutoFit/>
          </a:bodyPr>
          <a:lstStyle/>
          <a:p>
            <a:pPr>
              <a:defRPr sz="1080">
                <a:solidFill>
                  <a:srgbClr val="0F172A"/>
                </a:solidFill>
                <a:latin typeface="Calibri"/>
              </a:defRPr>
            </a:pPr>
            <a:r>
              <a:t>Analytical Commentary (Visual 6 — 42 words): Our Week 6 trial on 20 GAZelle SKUs proved AI-assisted OCR cataloging cuts Kaspi Shop listing time from 42 to 4.5 minutes and automates zero-stock delisting in under 60 seconds, preventing penalties while preserving human control over cash-versus-QR spreads [1, 5, 9].</a:t>
            </a:r>
          </a:p>
        </p:txBody>
      </p:sp>
      <p:sp>
        <p:nvSpPr>
          <p:cNvPr id="8" name="TextBox 7"/>
          <p:cNvSpPr txBox="1"/>
          <p:nvPr/>
        </p:nvSpPr>
        <p:spPr>
          <a:xfrm>
            <a:off x="365760" y="6510528"/>
            <a:ext cx="11460175" cy="274320"/>
          </a:xfrm>
          <a:prstGeom prst="rect">
            <a:avLst/>
          </a:prstGeom>
          <a:noFill/>
        </p:spPr>
        <p:txBody>
          <a:bodyPr wrap="square">
            <a:spAutoFit/>
          </a:bodyPr>
          <a:lstStyle/>
          <a:p>
            <a:pPr>
              <a:defRPr sz="850">
                <a:solidFill>
                  <a:srgbClr val="64748B"/>
                </a:solidFill>
                <a:latin typeface="Calibri"/>
              </a:defRPr>
            </a:pPr>
            <a:r>
              <a:t>Manat Amir (DPA-2602)  |  BA 1204 / BA2026 Assignment 3: Photo Essay  |  Company B: AB Auto vs. Company A: Interkom-Auto  |  Page 6 of 11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54864"/>
            <a:ext cx="11521440" cy="777240"/>
          </a:xfrm>
          <a:prstGeom prst="rect">
            <a:avLst/>
          </a:prstGeom>
          <a:noFill/>
        </p:spPr>
        <p:txBody>
          <a:bodyPr wrap="square">
            <a:spAutoFit/>
          </a:bodyPr>
          <a:lstStyle/>
          <a:p>
            <a:pPr>
              <a:defRPr sz="1000" b="1">
                <a:solidFill>
                  <a:srgbClr val="93C5FD"/>
                </a:solidFill>
              </a:defRPr>
            </a:pPr>
            <a:r>
              <a:t>SECTION 4 · FIVE-STAGE AI/DATA WORKFLOW &amp; WAREHOUSE ROUTING (WEEK 7)</a:t>
            </a:r>
          </a:p>
          <a:p>
            <a:pPr>
              <a:defRPr sz="1350" b="1">
                <a:solidFill>
                  <a:srgbClr val="FFFFFF"/>
                </a:solidFill>
              </a:defRPr>
            </a:pPr>
            <a:r>
              <a:t>Visual 7: Five-Stage AI/Data Workflow with Mandatory Stage 3 Tactile Verification</a:t>
            </a:r>
          </a:p>
        </p:txBody>
      </p:sp>
      <p:pic>
        <p:nvPicPr>
          <p:cNvPr id="4" name="Picture 3" descr="visual_07.png"/>
          <p:cNvPicPr>
            <a:picLocks noChangeAspect="1"/>
          </p:cNvPicPr>
          <p:nvPr/>
        </p:nvPicPr>
        <p:blipFill>
          <a:blip r:embed="rId2"/>
          <a:stretch>
            <a:fillRect/>
          </a:stretch>
        </p:blipFill>
        <p:spPr>
          <a:xfrm>
            <a:off x="0" y="0"/>
            <a:ext cx="12191694" cy="5682996"/>
          </a:xfrm>
          <a:prstGeom prst="rect">
            <a:avLst/>
          </a:prstGeom>
        </p:spPr>
      </p:pic>
      <p:sp>
        <p:nvSpPr>
          <p:cNvPr id="5" name="TextBox 4"/>
          <p:cNvSpPr txBox="1"/>
          <p:nvPr/>
        </p:nvSpPr>
        <p:spPr>
          <a:xfrm>
            <a:off x="365760" y="6638544"/>
            <a:ext cx="11365992" cy="292608"/>
          </a:xfrm>
          <a:prstGeom prst="rect">
            <a:avLst/>
          </a:prstGeom>
          <a:noFill/>
        </p:spPr>
        <p:txBody>
          <a:bodyPr wrap="square">
            <a:spAutoFit/>
          </a:bodyPr>
          <a:lstStyle/>
          <a:p>
            <a:pPr>
              <a:defRPr sz="880" i="1">
                <a:solidFill>
                  <a:srgbClr val="334155"/>
                </a:solidFill>
                <a:latin typeface="Calibri"/>
              </a:defRPr>
            </a:pPr>
            <a:r>
              <a:t>Source: Author's Week 7 AI/Data workflow diagram integrating OpenStax Ch. 13 MIS principles and Koktal 15B operational gates [1], [3], [4]. [Layout formatted with Level 2 AI script assistance].</a:t>
            </a:r>
          </a:p>
        </p:txBody>
      </p:sp>
      <p:sp>
        <p:nvSpPr>
          <p:cNvPr id="6" name="Rounded Rectangle 5"/>
          <p:cNvSpPr/>
          <p:nvPr/>
        </p:nvSpPr>
        <p:spPr>
          <a:xfrm>
            <a:off x="411480" y="5486400"/>
            <a:ext cx="11365992" cy="960120"/>
          </a:xfrm>
          <a:prstGeom prst="roundRect">
            <a:avLst/>
          </a:prstGeom>
          <a:solidFill>
            <a:srgbClr val="F1F5F9"/>
          </a:solidFill>
          <a:ln w="1524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5522976"/>
            <a:ext cx="11183112" cy="877824"/>
          </a:xfrm>
          <a:prstGeom prst="rect">
            <a:avLst/>
          </a:prstGeom>
          <a:noFill/>
        </p:spPr>
        <p:txBody>
          <a:bodyPr wrap="square">
            <a:spAutoFit/>
          </a:bodyPr>
          <a:lstStyle/>
          <a:p>
            <a:pPr>
              <a:defRPr sz="1080">
                <a:solidFill>
                  <a:srgbClr val="0F172A"/>
                </a:solidFill>
                <a:latin typeface="Calibri"/>
              </a:defRPr>
            </a:pPr>
            <a:r>
              <a:t>Analytical Commentary (Visual 7 — 50 words): To eliminate the 35-minute lookup bottleneck, our Week 7 workflow links EAEU invoice and WhatsApp photo intake (Stage 1) to OCR stock matching across four IPs (Stage 2), followed by Senior Storekeeper tactile audits of casting stamps and gasket seals within two minutes (Stage 3) before release [1, 3, 4].</a:t>
            </a:r>
          </a:p>
        </p:txBody>
      </p:sp>
      <p:sp>
        <p:nvSpPr>
          <p:cNvPr id="8" name="TextBox 7"/>
          <p:cNvSpPr txBox="1"/>
          <p:nvPr/>
        </p:nvSpPr>
        <p:spPr>
          <a:xfrm>
            <a:off x="365760" y="6510528"/>
            <a:ext cx="11460175" cy="274320"/>
          </a:xfrm>
          <a:prstGeom prst="rect">
            <a:avLst/>
          </a:prstGeom>
          <a:noFill/>
        </p:spPr>
        <p:txBody>
          <a:bodyPr wrap="square">
            <a:spAutoFit/>
          </a:bodyPr>
          <a:lstStyle/>
          <a:p>
            <a:pPr>
              <a:defRPr sz="850">
                <a:solidFill>
                  <a:srgbClr val="64748B"/>
                </a:solidFill>
                <a:latin typeface="Calibri"/>
              </a:defRPr>
            </a:pPr>
            <a:r>
              <a:t>Manat Amir (DPA-2602)  |  BA 1204 / BA2026 Assignment 3: Photo Essay  |  Company B: AB Auto vs. Company A: Interkom-Auto  |  Page 7 of 11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54864"/>
            <a:ext cx="11521440" cy="777240"/>
          </a:xfrm>
          <a:prstGeom prst="rect">
            <a:avLst/>
          </a:prstGeom>
          <a:noFill/>
        </p:spPr>
        <p:txBody>
          <a:bodyPr wrap="square">
            <a:spAutoFit/>
          </a:bodyPr>
          <a:lstStyle/>
          <a:p>
            <a:pPr>
              <a:defRPr sz="1000" b="1">
                <a:solidFill>
                  <a:srgbClr val="93C5FD"/>
                </a:solidFill>
              </a:defRPr>
            </a:pPr>
            <a:r>
              <a:t>SECTION 4 · FIVE-STAGE AI/DATA WORKFLOW &amp; WAREHOUSE ROUTING (WEEK 7)</a:t>
            </a:r>
          </a:p>
          <a:p>
            <a:pPr>
              <a:defRPr sz="1350" b="1">
                <a:solidFill>
                  <a:srgbClr val="FFFFFF"/>
                </a:solidFill>
              </a:defRPr>
            </a:pPr>
            <a:r>
              <a:t>Visual 8: Koktal 15B QR Bin-Tracking Layout &amp; Lead-Time Reduction Waterfall</a:t>
            </a:r>
          </a:p>
        </p:txBody>
      </p:sp>
      <p:pic>
        <p:nvPicPr>
          <p:cNvPr id="4" name="Picture 3" descr="visual_08.png"/>
          <p:cNvPicPr>
            <a:picLocks noChangeAspect="1"/>
          </p:cNvPicPr>
          <p:nvPr/>
        </p:nvPicPr>
        <p:blipFill>
          <a:blip r:embed="rId2"/>
          <a:stretch>
            <a:fillRect/>
          </a:stretch>
        </p:blipFill>
        <p:spPr>
          <a:xfrm>
            <a:off x="0" y="0"/>
            <a:ext cx="12191694" cy="5682996"/>
          </a:xfrm>
          <a:prstGeom prst="rect">
            <a:avLst/>
          </a:prstGeom>
        </p:spPr>
      </p:pic>
      <p:sp>
        <p:nvSpPr>
          <p:cNvPr id="5" name="TextBox 4"/>
          <p:cNvSpPr txBox="1"/>
          <p:nvPr/>
        </p:nvSpPr>
        <p:spPr>
          <a:xfrm>
            <a:off x="365760" y="6656832"/>
            <a:ext cx="11365992" cy="292608"/>
          </a:xfrm>
          <a:prstGeom prst="rect">
            <a:avLst/>
          </a:prstGeom>
          <a:noFill/>
        </p:spPr>
        <p:txBody>
          <a:bodyPr wrap="square">
            <a:spAutoFit/>
          </a:bodyPr>
          <a:lstStyle/>
          <a:p>
            <a:pPr>
              <a:defRPr sz="880" i="1">
                <a:solidFill>
                  <a:srgbClr val="334155"/>
                </a:solidFill>
                <a:latin typeface="Calibri"/>
              </a:defRPr>
            </a:pPr>
            <a:r>
              <a:t>Source: Author's Koktal 15B warehouse schematic and lead-time waterfall from the September 2026 in-store counter order logbook [1], [2], [4]. [Layout formatted with Level 2 AI script assistance].</a:t>
            </a:r>
          </a:p>
        </p:txBody>
      </p:sp>
      <p:sp>
        <p:nvSpPr>
          <p:cNvPr id="6" name="Rounded Rectangle 5"/>
          <p:cNvSpPr/>
          <p:nvPr/>
        </p:nvSpPr>
        <p:spPr>
          <a:xfrm>
            <a:off x="411480" y="5486400"/>
            <a:ext cx="11365992" cy="960120"/>
          </a:xfrm>
          <a:prstGeom prst="roundRect">
            <a:avLst/>
          </a:prstGeom>
          <a:solidFill>
            <a:srgbClr val="F1F5F9"/>
          </a:solidFill>
          <a:ln w="1524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5522976"/>
            <a:ext cx="11183112" cy="877824"/>
          </a:xfrm>
          <a:prstGeom prst="rect">
            <a:avLst/>
          </a:prstGeom>
          <a:noFill/>
        </p:spPr>
        <p:txBody>
          <a:bodyPr wrap="square">
            <a:spAutoFit/>
          </a:bodyPr>
          <a:lstStyle/>
          <a:p>
            <a:pPr>
              <a:defRPr sz="1080">
                <a:solidFill>
                  <a:srgbClr val="0F172A"/>
                </a:solidFill>
                <a:latin typeface="Calibri"/>
              </a:defRPr>
            </a:pPr>
            <a:r>
              <a:t>Analytical Commentary (Visual 8 — 44 words): Replacing unindexed shelving at Koktal 15B with mobile QR zone routing cuts physical picking from 7 to 3.5 minutes and eliminates phone delays, reducing Order-to-Dispatch Lead Time from the 65-minute September 2026 Koktal logbook baseline to 11.5 minutes—below our 15-minute target [1, 2, 4].</a:t>
            </a:r>
          </a:p>
        </p:txBody>
      </p:sp>
      <p:sp>
        <p:nvSpPr>
          <p:cNvPr id="8" name="TextBox 7"/>
          <p:cNvSpPr txBox="1"/>
          <p:nvPr/>
        </p:nvSpPr>
        <p:spPr>
          <a:xfrm>
            <a:off x="365760" y="6510528"/>
            <a:ext cx="11460175" cy="274320"/>
          </a:xfrm>
          <a:prstGeom prst="rect">
            <a:avLst/>
          </a:prstGeom>
          <a:noFill/>
        </p:spPr>
        <p:txBody>
          <a:bodyPr wrap="square">
            <a:spAutoFit/>
          </a:bodyPr>
          <a:lstStyle/>
          <a:p>
            <a:pPr>
              <a:defRPr sz="850">
                <a:solidFill>
                  <a:srgbClr val="64748B"/>
                </a:solidFill>
                <a:latin typeface="Calibri"/>
              </a:defRPr>
            </a:pPr>
            <a:r>
              <a:t>Manat Amir (DPA-2602)  |  BA 1204 / BA2026 Assignment 3: Photo Essay  |  Company B: AB Auto vs. Company A: Interkom-Auto  |  Page 8 of 11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54864"/>
            <a:ext cx="11521440" cy="777240"/>
          </a:xfrm>
          <a:prstGeom prst="rect">
            <a:avLst/>
          </a:prstGeom>
          <a:noFill/>
        </p:spPr>
        <p:txBody>
          <a:bodyPr wrap="square">
            <a:spAutoFit/>
          </a:bodyPr>
          <a:lstStyle/>
          <a:p>
            <a:pPr>
              <a:defRPr sz="1000" b="1">
                <a:solidFill>
                  <a:srgbClr val="93C5FD"/>
                </a:solidFill>
              </a:defRPr>
            </a:pPr>
            <a:r>
              <a:t>SECTION 5 · GOVERNANCE RISK REGISTER, ESCALATION &amp; FALLBACK (WEEK 7)</a:t>
            </a:r>
          </a:p>
          <a:p>
            <a:pPr>
              <a:defRPr sz="1350" b="1">
                <a:solidFill>
                  <a:srgbClr val="FFFFFF"/>
                </a:solidFill>
              </a:defRPr>
            </a:pPr>
            <a:r>
              <a:t>Visual 9: Seven-Row Governance Risk Register, 15-Min Escalation &amp; 12-Hour Fallback</a:t>
            </a:r>
          </a:p>
        </p:txBody>
      </p:sp>
      <p:pic>
        <p:nvPicPr>
          <p:cNvPr id="4" name="Picture 3" descr="visual_09.png"/>
          <p:cNvPicPr>
            <a:picLocks noChangeAspect="1"/>
          </p:cNvPicPr>
          <p:nvPr/>
        </p:nvPicPr>
        <p:blipFill>
          <a:blip r:embed="rId2"/>
          <a:stretch>
            <a:fillRect/>
          </a:stretch>
        </p:blipFill>
        <p:spPr>
          <a:xfrm>
            <a:off x="-1" y="0"/>
            <a:ext cx="12191695" cy="5682996"/>
          </a:xfrm>
          <a:prstGeom prst="rect">
            <a:avLst/>
          </a:prstGeom>
        </p:spPr>
      </p:pic>
      <p:sp>
        <p:nvSpPr>
          <p:cNvPr id="5" name="TextBox 4"/>
          <p:cNvSpPr txBox="1"/>
          <p:nvPr/>
        </p:nvSpPr>
        <p:spPr>
          <a:xfrm>
            <a:off x="365760" y="6656832"/>
            <a:ext cx="11365992" cy="292608"/>
          </a:xfrm>
          <a:prstGeom prst="rect">
            <a:avLst/>
          </a:prstGeom>
          <a:noFill/>
        </p:spPr>
        <p:txBody>
          <a:bodyPr wrap="square">
            <a:spAutoFit/>
          </a:bodyPr>
          <a:lstStyle/>
          <a:p>
            <a:pPr>
              <a:defRPr sz="880" i="1">
                <a:solidFill>
                  <a:srgbClr val="334155"/>
                </a:solidFill>
                <a:latin typeface="Calibri"/>
              </a:defRPr>
            </a:pPr>
            <a:r>
              <a:rPr dirty="0"/>
              <a:t>Source: Author's Week 7 Governance Risk Register incorporating CERT/CC controls and </a:t>
            </a:r>
            <a:r>
              <a:rPr dirty="0" err="1"/>
              <a:t>Koktal</a:t>
            </a:r>
            <a:r>
              <a:rPr dirty="0"/>
              <a:t> 15B Monday 09:00 stress-test protocols [1], [4], [10]. [Layout formatted with Level 2 AI script assistance].</a:t>
            </a:r>
          </a:p>
        </p:txBody>
      </p:sp>
      <p:sp>
        <p:nvSpPr>
          <p:cNvPr id="6" name="Rounded Rectangle 5"/>
          <p:cNvSpPr/>
          <p:nvPr/>
        </p:nvSpPr>
        <p:spPr>
          <a:xfrm>
            <a:off x="411480" y="5486400"/>
            <a:ext cx="11365992" cy="960120"/>
          </a:xfrm>
          <a:prstGeom prst="roundRect">
            <a:avLst/>
          </a:prstGeom>
          <a:solidFill>
            <a:srgbClr val="F1F5F9"/>
          </a:solidFill>
          <a:ln w="1524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5522976"/>
            <a:ext cx="11183112" cy="877824"/>
          </a:xfrm>
          <a:prstGeom prst="rect">
            <a:avLst/>
          </a:prstGeom>
          <a:noFill/>
        </p:spPr>
        <p:txBody>
          <a:bodyPr wrap="square">
            <a:spAutoFit/>
          </a:bodyPr>
          <a:lstStyle/>
          <a:p>
            <a:pPr>
              <a:defRPr sz="1080">
                <a:solidFill>
                  <a:srgbClr val="0F172A"/>
                </a:solidFill>
                <a:latin typeface="Calibri"/>
              </a:defRPr>
            </a:pPr>
            <a:r>
              <a:t>Analytical Commentary (Visual 9 — 58 words): Our seven-row risk register enforces CERT/CC two-factor security and strict triggers: if OCR confidence drops below 85% or price variance exceeds ±10%, review escalates from Senior Storekeeper (2m) to Store Manager (5m) and Owner (15m max) [1, 4, 10]. During Monday 09:00 outages, staff use laminated bin maps and paper ledgers, syncing to 1C within 12 hours [4].</a:t>
            </a:r>
          </a:p>
        </p:txBody>
      </p:sp>
      <p:sp>
        <p:nvSpPr>
          <p:cNvPr id="8" name="TextBox 7"/>
          <p:cNvSpPr txBox="1"/>
          <p:nvPr/>
        </p:nvSpPr>
        <p:spPr>
          <a:xfrm>
            <a:off x="365760" y="6510528"/>
            <a:ext cx="11460175" cy="274320"/>
          </a:xfrm>
          <a:prstGeom prst="rect">
            <a:avLst/>
          </a:prstGeom>
          <a:noFill/>
        </p:spPr>
        <p:txBody>
          <a:bodyPr wrap="square">
            <a:spAutoFit/>
          </a:bodyPr>
          <a:lstStyle/>
          <a:p>
            <a:pPr>
              <a:defRPr sz="850">
                <a:solidFill>
                  <a:srgbClr val="64748B"/>
                </a:solidFill>
                <a:latin typeface="Calibri"/>
              </a:defRPr>
            </a:pPr>
            <a:r>
              <a:t>Manat Amir (DPA-2602)  |  BA 1204 / BA2026 Assignment 3: Photo Essay  |  Company B: AB Auto vs. Company A: Interkom-Auto  |  Page 9 of 11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686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54864"/>
            <a:ext cx="11521440" cy="777240"/>
          </a:xfrm>
          <a:prstGeom prst="rect">
            <a:avLst/>
          </a:prstGeom>
          <a:noFill/>
        </p:spPr>
        <p:txBody>
          <a:bodyPr wrap="square">
            <a:spAutoFit/>
          </a:bodyPr>
          <a:lstStyle/>
          <a:p>
            <a:pPr>
              <a:defRPr sz="1000" b="1">
                <a:solidFill>
                  <a:srgbClr val="93C5FD"/>
                </a:solidFill>
              </a:defRPr>
            </a:pPr>
            <a:r>
              <a:t>SECTION 6 · CLOSING RECOMMENDATION &amp; EXPLICIT TRANSFER VERDICTS</a:t>
            </a:r>
          </a:p>
          <a:p>
            <a:pPr>
              <a:defRPr sz="1350" b="1">
                <a:solidFill>
                  <a:srgbClr val="FFFFFF"/>
                </a:solidFill>
              </a:defRPr>
            </a:pPr>
            <a:r>
              <a:t>Visual 10: Actionable Implementation Roadmap &amp; Company A -&gt; Company B Transfer Verdicts</a:t>
            </a:r>
          </a:p>
        </p:txBody>
      </p:sp>
      <p:pic>
        <p:nvPicPr>
          <p:cNvPr id="4" name="Picture 3" descr="visual_10.png"/>
          <p:cNvPicPr>
            <a:picLocks noChangeAspect="1"/>
          </p:cNvPicPr>
          <p:nvPr/>
        </p:nvPicPr>
        <p:blipFill>
          <a:blip r:embed="rId2"/>
          <a:stretch>
            <a:fillRect/>
          </a:stretch>
        </p:blipFill>
        <p:spPr>
          <a:xfrm>
            <a:off x="0" y="0"/>
            <a:ext cx="12191694" cy="5682996"/>
          </a:xfrm>
          <a:prstGeom prst="rect">
            <a:avLst/>
          </a:prstGeom>
        </p:spPr>
      </p:pic>
      <p:sp>
        <p:nvSpPr>
          <p:cNvPr id="5" name="TextBox 4"/>
          <p:cNvSpPr txBox="1"/>
          <p:nvPr/>
        </p:nvSpPr>
        <p:spPr>
          <a:xfrm>
            <a:off x="365760" y="6682475"/>
            <a:ext cx="11365992" cy="292608"/>
          </a:xfrm>
          <a:prstGeom prst="rect">
            <a:avLst/>
          </a:prstGeom>
          <a:noFill/>
        </p:spPr>
        <p:txBody>
          <a:bodyPr wrap="square">
            <a:spAutoFit/>
          </a:bodyPr>
          <a:lstStyle/>
          <a:p>
            <a:pPr>
              <a:defRPr sz="880" i="1">
                <a:solidFill>
                  <a:srgbClr val="334155"/>
                </a:solidFill>
                <a:latin typeface="Calibri"/>
              </a:defRPr>
            </a:pPr>
            <a:r>
              <a:rPr dirty="0"/>
              <a:t>Source: Author's comparative transfer evaluation of </a:t>
            </a:r>
            <a:r>
              <a:rPr dirty="0" err="1"/>
              <a:t>Interkom</a:t>
            </a:r>
            <a:r>
              <a:rPr dirty="0"/>
              <a:t>-Auto (Company A) vs. AB Auto (Company B) and 12-week roadmap [1], [3], [4], [6]. [Layout formatted with Level 2 AI script assistance].</a:t>
            </a:r>
          </a:p>
        </p:txBody>
      </p:sp>
      <p:sp>
        <p:nvSpPr>
          <p:cNvPr id="6" name="Rounded Rectangle 5"/>
          <p:cNvSpPr/>
          <p:nvPr/>
        </p:nvSpPr>
        <p:spPr>
          <a:xfrm>
            <a:off x="411480" y="5486400"/>
            <a:ext cx="11365992" cy="960120"/>
          </a:xfrm>
          <a:prstGeom prst="roundRect">
            <a:avLst/>
          </a:prstGeom>
          <a:solidFill>
            <a:srgbClr val="F1F5F9"/>
          </a:solidFill>
          <a:ln w="1524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5522976"/>
            <a:ext cx="11183112" cy="877824"/>
          </a:xfrm>
          <a:prstGeom prst="rect">
            <a:avLst/>
          </a:prstGeom>
          <a:noFill/>
        </p:spPr>
        <p:txBody>
          <a:bodyPr wrap="square">
            <a:spAutoFit/>
          </a:bodyPr>
          <a:lstStyle/>
          <a:p>
            <a:pPr>
              <a:defRPr sz="1080">
                <a:solidFill>
                  <a:srgbClr val="0F172A"/>
                </a:solidFill>
                <a:latin typeface="Calibri"/>
              </a:defRPr>
            </a:pPr>
            <a:r>
              <a:t>Analytical Commentary (Visual 10 — 43 words): Comparing Interkom-Auto [6], we adopt API zero-stock cutoffs and adapt QR bin routing and human-verified OCR invoice intake [1, 3]. However, we reject Interkom’s robotic conveyors and algorithmic credit scoring, which would destroy AB Auto’s five-to-seven-year informal STO mechanic credit relationships [4, 6].</a:t>
            </a:r>
          </a:p>
        </p:txBody>
      </p:sp>
      <p:sp>
        <p:nvSpPr>
          <p:cNvPr id="8" name="TextBox 7"/>
          <p:cNvSpPr txBox="1"/>
          <p:nvPr/>
        </p:nvSpPr>
        <p:spPr>
          <a:xfrm>
            <a:off x="365760" y="6510528"/>
            <a:ext cx="11460175" cy="274320"/>
          </a:xfrm>
          <a:prstGeom prst="rect">
            <a:avLst/>
          </a:prstGeom>
          <a:noFill/>
        </p:spPr>
        <p:txBody>
          <a:bodyPr wrap="square">
            <a:spAutoFit/>
          </a:bodyPr>
          <a:lstStyle/>
          <a:p>
            <a:pPr>
              <a:defRPr sz="850">
                <a:solidFill>
                  <a:srgbClr val="64748B"/>
                </a:solidFill>
                <a:latin typeface="Calibri"/>
              </a:defRPr>
            </a:pPr>
            <a:r>
              <a:t>Manat Amir (DPA-2602)  |  BA 1204 / BA2026 Assignment 3: Photo Essay  |  Company B: AB Auto vs. Company A: Interkom-Auto  |  Page 10 of 11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30000" cy="640080"/>
          </a:xfrm>
          <a:prstGeom prst="rect">
            <a:avLst/>
          </a:prstGeom>
          <a:noFill/>
        </p:spPr>
        <p:txBody>
          <a:bodyPr wrap="none">
            <a:spAutoFit/>
          </a:bodyPr>
          <a:lstStyle/>
          <a:p>
            <a:pPr>
              <a:defRPr sz="1500" b="1">
                <a:solidFill>
                  <a:srgbClr val="FFFFFF"/>
                </a:solidFill>
              </a:defRPr>
            </a:pPr>
            <a:r>
              <a:t>IEEE REFERENCE LIST &amp; EVIDENCE VERIFICATION SUMMARY</a:t>
            </a:r>
          </a:p>
          <a:p>
            <a:pPr>
              <a:defRPr sz="1000">
                <a:solidFill>
                  <a:srgbClr val="93C5FD"/>
                </a:solidFill>
              </a:defRPr>
            </a:pPr>
            <a:r>
              <a:t>10 Verifiable Sources Across Evidence Folder  |  Total Analytical Commentary: 460 Words (Strictly 400–500 Words)</a:t>
            </a:r>
          </a:p>
        </p:txBody>
      </p:sp>
      <p:sp>
        <p:nvSpPr>
          <p:cNvPr id="4" name="TextBox 3"/>
          <p:cNvSpPr txBox="1"/>
          <p:nvPr/>
        </p:nvSpPr>
        <p:spPr>
          <a:xfrm>
            <a:off x="411480" y="960120"/>
            <a:ext cx="11365992" cy="5440680"/>
          </a:xfrm>
          <a:prstGeom prst="rect">
            <a:avLst/>
          </a:prstGeom>
          <a:noFill/>
        </p:spPr>
        <p:txBody>
          <a:bodyPr wrap="square">
            <a:spAutoFit/>
          </a:bodyPr>
          <a:lstStyle/>
          <a:p>
            <a:pPr>
              <a:spcAft>
                <a:spcPts val="600"/>
              </a:spcAft>
              <a:defRPr sz="1050">
                <a:solidFill>
                  <a:srgbClr val="0F172A"/>
                </a:solidFill>
                <a:latin typeface="Calibri"/>
              </a:defRPr>
            </a:pPr>
            <a:r>
              <a:t>[1] L. J. Gitman, C. McDaniel, A. Shah, et al., Introduction to Business, 2nd ed. Houston, TX: OpenStax, Rice University, 2026, ch. 10–13.</a:t>
            </a:r>
          </a:p>
          <a:p>
            <a:pPr>
              <a:spcAft>
                <a:spcPts val="600"/>
              </a:spcAft>
              <a:defRPr sz="1050">
                <a:solidFill>
                  <a:srgbClr val="0F172A"/>
                </a:solidFill>
                <a:latin typeface="Calibri"/>
              </a:defRPr>
            </a:pPr>
            <a:r>
              <a:t>[2] G. Yeshenkulova, N. Ibadildin, and M. Tleubayeva, Business Administration. Almaty: ZIALY BASPASY, 2026, ISBN 978-601-08-4281-6.</a:t>
            </a:r>
          </a:p>
          <a:p>
            <a:pPr>
              <a:spcAft>
                <a:spcPts val="600"/>
              </a:spcAft>
              <a:defRPr sz="1050">
                <a:solidFill>
                  <a:srgbClr val="0F172A"/>
                </a:solidFill>
                <a:latin typeface="Calibri"/>
              </a:defRPr>
            </a:pPr>
            <a:r>
              <a:t>[3] H. J. Wilson and P. R. Daugherty, "Collaborative intelligence: Humans and AI are joining forces," Harvard Business Review, vol. 96, no. 4, pp. 114–123, Jul.–Aug. 2018.</a:t>
            </a:r>
          </a:p>
          <a:p>
            <a:pPr>
              <a:spcAft>
                <a:spcPts val="600"/>
              </a:spcAft>
              <a:defRPr sz="1050">
                <a:solidFill>
                  <a:srgbClr val="0F172A"/>
                </a:solidFill>
                <a:latin typeface="Calibri"/>
              </a:defRPr>
            </a:pPr>
            <a:r>
              <a:t>[4] AB Auto, Koktal 15B In-Store Counter Order Logbook, Warehouse Bin Records, and Partnering STO Trade Credit Ledgers (September 2026 Empirical Audit, n = 45 B2B Orders), Astana, Kazakhstan, Sep. 2026.</a:t>
            </a:r>
          </a:p>
          <a:p>
            <a:pPr>
              <a:spcAft>
                <a:spcPts val="600"/>
              </a:spcAft>
              <a:defRPr sz="1050">
                <a:solidFill>
                  <a:srgbClr val="0F172A"/>
                </a:solidFill>
                <a:latin typeface="Calibri"/>
              </a:defRPr>
            </a:pPr>
            <a:r>
              <a:t>[5] AB Auto, "Commercial vehicle spare parts catalog and store directory (Koktal 15B &amp; Abylai Khan 62)," abavto.tilda.ws, 2026. [Online]. Available: https://abavto.tilda.ws.</a:t>
            </a:r>
          </a:p>
          <a:p>
            <a:pPr>
              <a:spcAft>
                <a:spcPts val="600"/>
              </a:spcAft>
              <a:defRPr sz="1050">
                <a:solidFill>
                  <a:srgbClr val="0F172A"/>
                </a:solidFill>
                <a:latin typeface="Calibri"/>
              </a:defRPr>
            </a:pPr>
            <a:r>
              <a:t>[6] Interkom-Auto, "Automotive parts wholesale and B2B ordering portal," interkom.kz, 2026. [Online]. Available: https://interkom.kz.</a:t>
            </a:r>
          </a:p>
          <a:p>
            <a:pPr>
              <a:spcAft>
                <a:spcPts val="600"/>
              </a:spcAft>
              <a:defRPr sz="1050">
                <a:solidFill>
                  <a:srgbClr val="0F172A"/>
                </a:solidFill>
                <a:latin typeface="Calibri"/>
              </a:defRPr>
            </a:pPr>
            <a:r>
              <a:t>[7] Bureau of National Statistics of the Agency for Strategic Planning and Reforms of the Republic of Kazakhstan, "Statistical indicators of domestic trade and commercial transport maintenance in Astana," stat.gov.kz, 2026. [Online]. Available: https://stat.gov.kz.</a:t>
            </a:r>
          </a:p>
          <a:p>
            <a:pPr>
              <a:spcAft>
                <a:spcPts val="600"/>
              </a:spcAft>
              <a:defRPr sz="1050">
                <a:solidFill>
                  <a:srgbClr val="0F172A"/>
                </a:solidFill>
                <a:latin typeface="Calibri"/>
              </a:defRPr>
            </a:pPr>
            <a:r>
              <a:t>[8] State Revenue Committee of the Ministry of Finance of the Republic of Kazakhstan, "Tax administration, electronic invoicing (ESF), and simplified declaration regime for individual entrepreneurs (Art. 683, Tax Code of RK)," kgd.gov.kz, 2026. [Online]. Available: https://kgd.gov.kz.</a:t>
            </a:r>
          </a:p>
          <a:p>
            <a:pPr>
              <a:spcAft>
                <a:spcPts val="600"/>
              </a:spcAft>
              <a:defRPr sz="1050">
                <a:solidFill>
                  <a:srgbClr val="0F172A"/>
                </a:solidFill>
                <a:latin typeface="Calibri"/>
              </a:defRPr>
            </a:pPr>
            <a:r>
              <a:t>[9] Kaspi.kz, "Kaspi Shop Merchant Partner Rules, SKU Listing Standards, and Kaspi Pay Acquiring Tariffs," kaspi.kz, 2026. [Online]. Available: https://kaspi.kz.</a:t>
            </a:r>
          </a:p>
          <a:p>
            <a:pPr>
              <a:spcAft>
                <a:spcPts val="600"/>
              </a:spcAft>
              <a:defRPr sz="1050">
                <a:solidFill>
                  <a:srgbClr val="0F172A"/>
                </a:solidFill>
                <a:latin typeface="Calibri"/>
              </a:defRPr>
            </a:pPr>
            <a:r>
              <a:t>[10] CERT Coordination Center (CERT/CC), "Enterprise network security controls, credential hygiene, and incident response guidelines," Software Engineering Institute, Carnegie Mellon University, cert.org, 2026. [Online]. Available: https://www.kb.cert.org.</a:t>
            </a:r>
          </a:p>
          <a:p>
            <a:br/>
            <a:r>
              <a:t>AI-Use Level 2 Disclosure &amp; A2 Feedback Compliance Note: All 10 visuals are original operational diagrams/charts created by the author from verified AB Auto field records (specifically sourcing the 65-min baseline KPI to the September 2026 Koktal 15B in-store counter order logbook, n = 45 orders, and detailing the 2m/5m/15m 3-tier escalation path and 12h fallback). Layout formatted using Python/Matplotlib with Level 2 AI assistance; OpenStax and course core texts were never uploaded to any AI system.</a:t>
            </a:r>
          </a:p>
        </p:txBody>
      </p:sp>
      <p:sp>
        <p:nvSpPr>
          <p:cNvPr id="5" name="TextBox 4"/>
          <p:cNvSpPr txBox="1"/>
          <p:nvPr/>
        </p:nvSpPr>
        <p:spPr>
          <a:xfrm>
            <a:off x="365760" y="6510528"/>
            <a:ext cx="11460175" cy="274320"/>
          </a:xfrm>
          <a:prstGeom prst="rect">
            <a:avLst/>
          </a:prstGeom>
          <a:noFill/>
        </p:spPr>
        <p:txBody>
          <a:bodyPr wrap="square">
            <a:spAutoFit/>
          </a:bodyPr>
          <a:lstStyle/>
          <a:p>
            <a:pPr>
              <a:defRPr sz="850">
                <a:solidFill>
                  <a:srgbClr val="64748B"/>
                </a:solidFill>
                <a:latin typeface="Calibri"/>
              </a:defRPr>
            </a:pPr>
            <a:r>
              <a:t>Manat Amir (DPA-2602)  |  BA 1204 / BA2026 Assignment 3: Photo Essay  |  Company B: AB Auto vs. Company A: Interkom-Auto  |  Page 11 of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TotalTime>
  <Words>2304</Words>
  <Application>Microsoft Office PowerPoint</Application>
  <PresentationFormat>Широкоэкранный</PresentationFormat>
  <Paragraphs>64</Paragraphs>
  <Slides>11</Slides>
  <Notes>0</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11</vt:i4>
      </vt:variant>
    </vt:vector>
  </HeadingPairs>
  <TitlesOfParts>
    <vt:vector size="14" baseType="lpstr">
      <vt:lpstr>Arial</vt:lpstr>
      <vt:lpstr>Calibri</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Манат Аяра</cp:lastModifiedBy>
  <cp:revision>1</cp:revision>
  <dcterms:created xsi:type="dcterms:W3CDTF">2013-01-27T09:14:16Z</dcterms:created>
  <dcterms:modified xsi:type="dcterms:W3CDTF">2026-10-16T12:23:14Z</dcterms:modified>
  <cp:category/>
</cp:coreProperties>
</file>